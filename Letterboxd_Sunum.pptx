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A6A6D-9C6C-48C9-BDF1-5B335AC22E18}" v="1" dt="2026-08-01T21:21:20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Puan</c:v>
                </c:pt>
              </c:strCache>
            </c:strRef>
          </c:tx>
          <c:spPr>
            <a:solidFill>
              <a:srgbClr val="00E0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81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Documentary</c:v>
                </c:pt>
                <c:pt idx="1">
                  <c:v>Music</c:v>
                </c:pt>
                <c:pt idx="2">
                  <c:v>History</c:v>
                </c:pt>
                <c:pt idx="3">
                  <c:v>War</c:v>
                </c:pt>
                <c:pt idx="4">
                  <c:v>Animation</c:v>
                </c:pt>
                <c:pt idx="5">
                  <c:v>Drama</c:v>
                </c:pt>
                <c:pt idx="6">
                  <c:v>Western</c:v>
                </c:pt>
                <c:pt idx="7">
                  <c:v>Crime</c:v>
                </c:pt>
                <c:pt idx="8">
                  <c:v>Romance</c:v>
                </c:pt>
                <c:pt idx="9">
                  <c:v>Comedy</c:v>
                </c:pt>
                <c:pt idx="10">
                  <c:v>Mystery</c:v>
                </c:pt>
                <c:pt idx="11">
                  <c:v>Fantasy</c:v>
                </c:pt>
                <c:pt idx="12">
                  <c:v>TV Movie</c:v>
                </c:pt>
                <c:pt idx="13">
                  <c:v>Family</c:v>
                </c:pt>
                <c:pt idx="14">
                  <c:v>Adventure</c:v>
                </c:pt>
                <c:pt idx="15">
                  <c:v>Thriller</c:v>
                </c:pt>
                <c:pt idx="16">
                  <c:v>Action</c:v>
                </c:pt>
                <c:pt idx="17">
                  <c:v>Science Fiction</c:v>
                </c:pt>
                <c:pt idx="18">
                  <c:v>Horror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3.51</c:v>
                </c:pt>
                <c:pt idx="1">
                  <c:v>3.49</c:v>
                </c:pt>
                <c:pt idx="2">
                  <c:v>3.41</c:v>
                </c:pt>
                <c:pt idx="3">
                  <c:v>3.4</c:v>
                </c:pt>
                <c:pt idx="4">
                  <c:v>3.38</c:v>
                </c:pt>
                <c:pt idx="5">
                  <c:v>3.35</c:v>
                </c:pt>
                <c:pt idx="6">
                  <c:v>3.31</c:v>
                </c:pt>
                <c:pt idx="7">
                  <c:v>3.26</c:v>
                </c:pt>
                <c:pt idx="8">
                  <c:v>3.2</c:v>
                </c:pt>
                <c:pt idx="9">
                  <c:v>3.18</c:v>
                </c:pt>
                <c:pt idx="10">
                  <c:v>3.18</c:v>
                </c:pt>
                <c:pt idx="11">
                  <c:v>3.17</c:v>
                </c:pt>
                <c:pt idx="12">
                  <c:v>3.14</c:v>
                </c:pt>
                <c:pt idx="13">
                  <c:v>3.12</c:v>
                </c:pt>
                <c:pt idx="14">
                  <c:v>3.11</c:v>
                </c:pt>
                <c:pt idx="15">
                  <c:v>3.04</c:v>
                </c:pt>
                <c:pt idx="16">
                  <c:v>3.04</c:v>
                </c:pt>
                <c:pt idx="17">
                  <c:v>3.02</c:v>
                </c:pt>
                <c:pt idx="18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09-6842-A041-3E5E3C5A07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7"/>
          <c:min val="2.5"/>
        </c:scaling>
        <c:delete val="0"/>
        <c:axPos val="b"/>
        <c:majorGridlines>
          <c:spPr>
            <a:ln w="12700" cap="flat">
              <a:solidFill>
                <a:srgbClr val="EDED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Puan</c:v>
                </c:pt>
              </c:strCache>
            </c:strRef>
          </c:tx>
          <c:spPr>
            <a:solidFill>
              <a:srgbClr val="FF8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181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Kısa
(&lt;60 dk)</c:v>
                </c:pt>
                <c:pt idx="1">
                  <c:v>Standart-Kısa
(60–90 dk)</c:v>
                </c:pt>
                <c:pt idx="2">
                  <c:v>Standart
(91–120 dk)</c:v>
                </c:pt>
                <c:pt idx="3">
                  <c:v>Uzun
(121–150 dk)</c:v>
                </c:pt>
                <c:pt idx="4">
                  <c:v>Çok Uzun
(150+ dk)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3.38</c:v>
                </c:pt>
                <c:pt idx="1">
                  <c:v>3.14</c:v>
                </c:pt>
                <c:pt idx="2">
                  <c:v>3.2</c:v>
                </c:pt>
                <c:pt idx="3">
                  <c:v>3.33</c:v>
                </c:pt>
                <c:pt idx="4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86-3A43-A4BA-78CD94282B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7"/>
          <c:min val="2.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81C"/>
                </a:solidFill>
                <a:latin typeface="Arial"/>
              </a:defRPr>
            </a:pPr>
            <a:r>
              <a:rPr lang="tr-TR" sz="1300" b="0" i="0" u="none" strike="noStrike">
                <a:solidFill>
                  <a:srgbClr val="14181C"/>
                </a:solidFill>
                <a:latin typeface="Arial"/>
              </a:rPr>
              <a:t>R² Skoru (Yüksek = İyi)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Skoru</c:v>
                </c:pt>
              </c:strCache>
            </c:strRef>
          </c:tx>
          <c:spPr>
            <a:solidFill>
              <a:srgbClr val="5C677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6FB-4987-B8D7-C2757B510EAD}"/>
              </c:ext>
            </c:extLst>
          </c:dPt>
          <c:dPt>
            <c:idx val="1"/>
            <c:invertIfNegative val="0"/>
            <c:bubble3D val="0"/>
            <c:spPr>
              <a:solidFill>
                <a:srgbClr val="FF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36FB-4987-B8D7-C2757B510EAD}"/>
              </c:ext>
            </c:extLst>
          </c:dPt>
          <c:dPt>
            <c:idx val="2"/>
            <c:invertIfNegative val="0"/>
            <c:bubble3D val="0"/>
            <c:spPr>
              <a:solidFill>
                <a:srgbClr val="00E0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36FB-4987-B8D7-C2757B510EA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181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Regression</c:v>
                </c:pt>
                <c:pt idx="1">
                  <c:v>Decision
Tree</c:v>
                </c:pt>
                <c:pt idx="2">
                  <c:v>Random
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0.27829999999999999</c:v>
                </c:pt>
                <c:pt idx="1">
                  <c:v>0.38190000000000002</c:v>
                </c:pt>
                <c:pt idx="2">
                  <c:v>0.43030000000000002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C4-5F43-9B50-6C538EEFE1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E1A89-7ABA-F549-9291-AAEF980F805A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4D52B-0F8F-B14C-A8B3-413D54854C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6680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00E05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5486400"/>
            <a:ext cx="1828800" cy="1828800"/>
          </a:xfrm>
          <a:prstGeom prst="ellipse">
            <a:avLst/>
          </a:prstGeom>
          <a:solidFill>
            <a:srgbClr val="FF8000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ANALİSTİ BİTİRME PROJESİ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Letterboxd Film Puanı Tahmini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C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Veriden Modele: Uçtan Uca Bir Veri Bilimi Yolculuğu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Letterboxd (Movies Dataset)  ·  9 İlişkisel Tablo  ·  90.999 Film  ·  3 Makine Öğrenmesi Modeli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1197864" cy="475488"/>
          </a:xfrm>
          <a:prstGeom prst="roundRect">
            <a:avLst>
              <a:gd name="adj" fmla="val 50000"/>
            </a:avLst>
          </a:prstGeom>
          <a:solidFill>
            <a:srgbClr val="1F262D"/>
          </a:solidFill>
          <a:ln w="12700">
            <a:solidFill>
              <a:srgbClr val="00E0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72000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21992" y="4572000"/>
            <a:ext cx="1938528" cy="475488"/>
          </a:xfrm>
          <a:prstGeom prst="roundRect">
            <a:avLst>
              <a:gd name="adj" fmla="val 50000"/>
            </a:avLst>
          </a:prstGeom>
          <a:solidFill>
            <a:srgbClr val="1F262D"/>
          </a:solidFill>
          <a:ln w="12700">
            <a:solidFill>
              <a:srgbClr val="00E0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457200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DuckDB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61688" y="4572000"/>
            <a:ext cx="1444752" cy="475488"/>
          </a:xfrm>
          <a:prstGeom prst="roundRect">
            <a:avLst>
              <a:gd name="adj" fmla="val 50000"/>
            </a:avLst>
          </a:prstGeom>
          <a:solidFill>
            <a:srgbClr val="1F262D"/>
          </a:solidFill>
          <a:ln w="12700">
            <a:solidFill>
              <a:srgbClr val="00E0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45720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07608" y="4572000"/>
            <a:ext cx="1938528" cy="475488"/>
          </a:xfrm>
          <a:prstGeom prst="roundRect">
            <a:avLst>
              <a:gd name="adj" fmla="val 50000"/>
            </a:avLst>
          </a:prstGeom>
          <a:solidFill>
            <a:srgbClr val="1F262D"/>
          </a:solidFill>
          <a:ln w="12700">
            <a:solidFill>
              <a:srgbClr val="00E0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457200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Samil Tokat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HARİTASI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Fazda Uçtan Uca Bir Süreç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26464" y="2468880"/>
            <a:ext cx="9418320" cy="0"/>
          </a:xfrm>
          <a:prstGeom prst="line">
            <a:avLst/>
          </a:prstGeom>
          <a:noFill/>
          <a:ln w="38100">
            <a:solidFill>
              <a:srgbClr val="D8D9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2103120"/>
            <a:ext cx="731520" cy="73152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Keşfi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tablonun yapısını inceleme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E4F9E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5262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B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44368" y="2103120"/>
            <a:ext cx="731520" cy="73152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32304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 &amp;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Birleştirme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40864" y="3840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tabloya indirgeme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32304" y="45262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E4F9EC"/>
          </a:solidFill>
          <a:ln/>
        </p:spPr>
      </p:sp>
      <p:sp>
        <p:nvSpPr>
          <p:cNvPr id="16" name="Text 14"/>
          <p:cNvSpPr/>
          <p:nvPr/>
        </p:nvSpPr>
        <p:spPr>
          <a:xfrm>
            <a:off x="2432304" y="45262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B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28032" y="2103120"/>
            <a:ext cx="731520" cy="73152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315968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224528" y="3840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soru, SQL ile bulgular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45262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E4F9EC"/>
          </a:solidFill>
          <a:ln/>
        </p:spPr>
      </p:sp>
      <p:sp>
        <p:nvSpPr>
          <p:cNvPr id="22" name="Text 20"/>
          <p:cNvSpPr/>
          <p:nvPr/>
        </p:nvSpPr>
        <p:spPr>
          <a:xfrm>
            <a:off x="4315968" y="45262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B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11696" y="2103120"/>
            <a:ext cx="731520" cy="73152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24" name="Text 22"/>
          <p:cNvSpPr/>
          <p:nvPr/>
        </p:nvSpPr>
        <p:spPr>
          <a:xfrm>
            <a:off x="6711696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99632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108192" y="3840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model, karşılaştırma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9632" y="45262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E4F9EC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45262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B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95360" y="2103120"/>
            <a:ext cx="731520" cy="73152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083296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91856" y="3840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İnteraktif dashboard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83296" y="45262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E4F9EC"/>
          </a:solidFill>
          <a:ln/>
        </p:spPr>
      </p:sp>
      <p:sp>
        <p:nvSpPr>
          <p:cNvPr id="34" name="Text 32"/>
          <p:cNvSpPr/>
          <p:nvPr/>
        </p:nvSpPr>
        <p:spPr>
          <a:xfrm>
            <a:off x="8083296" y="45262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B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479024" y="2103120"/>
            <a:ext cx="731520" cy="73152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36" name="Text 34"/>
          <p:cNvSpPr/>
          <p:nvPr/>
        </p:nvSpPr>
        <p:spPr>
          <a:xfrm>
            <a:off x="10479024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966960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&amp;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875520" y="3840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doküman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66960" y="45262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E4F9EC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0" y="45262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B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81C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212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sunum:  </a:t>
            </a:r>
            <a:r>
              <a:rPr lang="en-US" sz="14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seçiminden nihai Power BI dashboard'una kadar attığımız her adımı, verdiğimiz her kararı ve nedenini baştan sona anlatıyor.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SEÇİMİ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Letterboxd (Movies Dataset)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Veri Seti?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ölçeğinde, ilişkisel (9 tablolu) bir veritabanı — gerçek SQL join pratiği için ideal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hedef değişken: rating (0–5 arası kullanıcı puanı) — regresyon problemi net kurulabiliyor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 özellik potansiyeli: tür, yönetmen, oyuncu, stüdyo, ülke, dil, dağıtım tipi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Kaggle'ın en aktif topluluklarından biri — 24.71 GB, 761 bin dosya, 105 beğeni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4181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İlişkisel Tablo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9828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4181C"/>
          </a:solidFill>
          <a:ln/>
        </p:spPr>
      </p:sp>
      <p:sp>
        <p:nvSpPr>
          <p:cNvPr id="11" name="Text 9"/>
          <p:cNvSpPr/>
          <p:nvPr/>
        </p:nvSpPr>
        <p:spPr>
          <a:xfrm>
            <a:off x="928116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24.71 GB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281160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Boyut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977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4181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251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941.597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5029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Film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3977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4181C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4251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90.999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5029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Puanı Olan Film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217920"/>
            <a:ext cx="11064240" cy="0"/>
          </a:xfrm>
          <a:prstGeom prst="round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YAPISI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İlişkisel Şema — 9 Tablo, Tek Anahtar (id)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66360" y="3429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0E054"/>
          </a:solidFill>
          <a:ln/>
        </p:spPr>
      </p:sp>
      <p:sp>
        <p:nvSpPr>
          <p:cNvPr id="5" name="Text 3"/>
          <p:cNvSpPr/>
          <p:nvPr/>
        </p:nvSpPr>
        <p:spPr>
          <a:xfrm>
            <a:off x="516636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16636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rating · minute · date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 flipV="1">
            <a:off x="6080760" y="2061058"/>
            <a:ext cx="0" cy="1870862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72100" y="1672438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F262D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2100" y="176387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72100" y="205648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bilgisi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 flipV="1">
            <a:off x="6080760" y="2609021"/>
            <a:ext cx="1813653" cy="1322899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5753" y="2220401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F262D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85753" y="2311841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85753" y="2604449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oyuncu kadrosu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3931920"/>
            <a:ext cx="2564892" cy="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35433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F262D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36347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36992" y="39273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yönetmen/ekip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3931920"/>
            <a:ext cx="1813653" cy="1322899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85753" y="4866199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F262D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5753" y="4957639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85753" y="5250247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yapım şirketi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0760" y="3931920"/>
            <a:ext cx="0" cy="1870862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72100" y="5414162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F262D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2100" y="550560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72100" y="579821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menşei ülke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 flipH="1">
            <a:off x="4267107" y="3931920"/>
            <a:ext cx="1813653" cy="1322899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58447" y="4866199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F262D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58447" y="4957639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58447" y="5250247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bilgisi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 flipH="1">
            <a:off x="3515868" y="3931920"/>
            <a:ext cx="2564892" cy="0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07208" y="35433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F262D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07208" y="36347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07208" y="39273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etiketleri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 flipH="1" flipV="1">
            <a:off x="4267107" y="2609021"/>
            <a:ext cx="1813653" cy="1322899"/>
          </a:xfrm>
          <a:prstGeom prst="line">
            <a:avLst/>
          </a:prstGeom>
          <a:noFill/>
          <a:ln w="19050">
            <a:solidFill>
              <a:srgbClr val="2C34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58447" y="2220401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F262D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58447" y="2311841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58447" y="2604449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vizyon/dağıtım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646920" y="210312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1F262D"/>
          </a:solidFill>
          <a:ln/>
        </p:spPr>
      </p:sp>
      <p:sp>
        <p:nvSpPr>
          <p:cNvPr id="40" name="Text 38"/>
          <p:cNvSpPr/>
          <p:nvPr/>
        </p:nvSpPr>
        <p:spPr>
          <a:xfrm>
            <a:off x="9829800" y="22860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Yapı Zor?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29800" y="2880360"/>
            <a:ext cx="1600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9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tablo 'uzun format' — bir filmin 10 oyuncusu 10 ayrı satır. Doğrudan birleştirmek satırları katbekat çoğaltır (duplikasyon).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Keşfi — Yapıyı Anlamak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6537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API ile Seçici İndirme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3113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24.71 GB'lık dataset'in tamamı yerine, yalnızca 9 CSV metadata dosyası indirildi. 761 bin görsel dosyasını (posters klasörü) hiç indirmedik — gereksiz.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55264"/>
            <a:ext cx="548640" cy="54864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1089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Yapısını İnceleme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4747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tablo önce sadece ilk birkaç satırıyla (nrows) incelendi — RAM harcamadan, hangi sütunların var olduğu görüldü.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498848"/>
            <a:ext cx="548640" cy="54864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98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35254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Değişken Tespiti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71830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movies.csv içinde rating sütununun 0–5 arası, ondalıklı bir puan olduğu doğrulandı — regresyon problemi olarak kurgulandı.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742432"/>
            <a:ext cx="548640" cy="548640"/>
          </a:xfrm>
          <a:prstGeom prst="ellipse">
            <a:avLst/>
          </a:prstGeom>
          <a:solidFill>
            <a:srgbClr val="00E05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42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5961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Yapısal Tespit: Uzun Format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96188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Yardımcı tabloların her birinin film başına ÇOKLU satır içerdiği (uzun format) tespit edildi — bu, Faz 2'nin tüm stratejisini belirledi.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· ADIM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Tabloyu Film Başına Tek Satıra İndirgeme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17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Çıkarılan Özellik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/ Gerekçe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genre_main, genre_count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tür + tür sayısı (groupby → first / size)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actor_count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sayı — isimler 1.6M+ satır, yüksek kardinalite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director, crew_size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role='Director' filtresi + toplam ekip büyüklüğü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studio_main, studio_count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stüdyo + stüdyo sayısı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country_main, country_count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ülke + ülke sayısı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language_main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Öncelik sırası: Primary &gt; Language &gt; Spoken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theme_count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sayı — tema metni serbest/çok çeşitli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3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release_country_count + 6 dağıtım özelliği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Vizyon ülke sayısı + had_theatrical_release vb.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· ADIM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Birleştirme, Eksik Değerler ve Özellik Mühendisliği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F26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Stratejisi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941.597</a:t>
            </a:r>
            <a:r>
              <a:rPr lang="en-US" sz="1300" dirty="0">
                <a:solidFill>
                  <a:srgbClr val="C9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film  →  rating eksik olanlar çıkarıldı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90.999</a:t>
            </a:r>
            <a:r>
              <a:rPr lang="en-US" sz="1300" dirty="0">
                <a:solidFill>
                  <a:srgbClr val="C9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film  (%9.7)  → modele hazır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LEFT JOIN: Bazı yardımcı tabloların kapsamı çok dar (themes sadece 24.508 film — %2.6). INNER JOIN yapsaydık, tüm veri sadece 24 bin filme düşerdi.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1F262D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Değer Stratejisi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FD4"/>
                </a:solidFill>
              </a:rPr>
              <a:t>Sayısal sütunlar  </a:t>
            </a:r>
            <a:r>
              <a:rPr lang="en-US" sz="1200" b="1" dirty="0">
                <a:solidFill>
                  <a:srgbClr val="FF8000"/>
                </a:solidFill>
              </a:rPr>
              <a:t>→ 0  </a:t>
            </a:r>
            <a:r>
              <a:rPr lang="en-US" sz="1000" i="1" dirty="0">
                <a:solidFill>
                  <a:srgbClr val="8A96A0"/>
                </a:solidFill>
              </a:rPr>
              <a:t>(bilgi yoksa sayı 0)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26791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FD4"/>
                </a:solidFill>
              </a:rPr>
              <a:t>Kategorik sütunlar  </a:t>
            </a:r>
            <a:r>
              <a:rPr lang="en-US" sz="1200" b="1" dirty="0">
                <a:solidFill>
                  <a:srgbClr val="FF8000"/>
                </a:solidFill>
              </a:rPr>
              <a:t>→ "Unknown"  </a:t>
            </a:r>
            <a:r>
              <a:rPr lang="en-US" sz="1000" i="1" dirty="0">
                <a:solidFill>
                  <a:srgbClr val="8A96A0"/>
                </a:solidFill>
              </a:rPr>
              <a:t>(ayrı bir kategori)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3026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FD4"/>
                </a:solidFill>
              </a:rPr>
              <a:t>rating (hedef)  </a:t>
            </a:r>
            <a:r>
              <a:rPr lang="en-US" sz="1200" b="1" dirty="0">
                <a:solidFill>
                  <a:srgbClr val="FF8000"/>
                </a:solidFill>
              </a:rPr>
              <a:t>→ satır silindi  </a:t>
            </a:r>
            <a:r>
              <a:rPr lang="en-US" sz="1000" i="1" dirty="0">
                <a:solidFill>
                  <a:srgbClr val="8A96A0"/>
                </a:solidFill>
              </a:rPr>
              <a:t>(tahmin edilecek değer, doldurulamaz)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33741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FD4"/>
                </a:solidFill>
              </a:rPr>
              <a:t>minute (524 eksik)  </a:t>
            </a:r>
            <a:r>
              <a:rPr lang="en-US" sz="1200" b="1" dirty="0">
                <a:solidFill>
                  <a:srgbClr val="FF8000"/>
                </a:solidFill>
              </a:rPr>
              <a:t>→ medyan  </a:t>
            </a:r>
            <a:r>
              <a:rPr lang="en-US" sz="1000" i="1" dirty="0">
                <a:solidFill>
                  <a:srgbClr val="8A96A0"/>
                </a:solidFill>
              </a:rPr>
              <a:t>(çarpık dağılıma dayanıklı)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1F26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 Özellik Mühendisliği: Dağıtım Tipi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releases.csv'nin 'type' sütunundaki 6 farklı dağıtım şekli (Theatrical, Digital, Physical, TV, Premiere, Theatrical Limited), her biri için ayrı bir True/False sütununa dönüştürüldü (had_theatrical_release vb.) — sonradan EDA'da rating ile güçlü bir ilişki taşıdığı ortaya çıktı.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movies_clean.csv — 90.999 satır × 23 sütun, tamamen temiz, hiçbir sütunda eksik değer yok.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Keşifsel Analiz — 7 Soru, SQL ile Cevaplandı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037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Sorulan 7 Soru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 setimizin genel çerçevesi nedir?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Yıllara göre film sayısı ve rating nasıl değişiyor?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Hangi türler daha yüksek/düşük puan alıyor?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Film süresi ile rating arasında ilişki var mı?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 üretken ve en yüksek puanlı yönetmenler kimler?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Ülke ve stüdyo bazlı rating farkları var mı?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Dağıtım tipi (sinema/dijital) rating ile ilişkili mi?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35240" y="1645920"/>
            <a:ext cx="3977640" cy="4572000"/>
          </a:xfrm>
          <a:prstGeom prst="roundRect">
            <a:avLst>
              <a:gd name="adj" fmla="val 1839"/>
            </a:avLst>
          </a:prstGeom>
          <a:solidFill>
            <a:srgbClr val="14181C"/>
          </a:solidFill>
          <a:ln/>
        </p:spPr>
      </p:sp>
      <p:sp>
        <p:nvSpPr>
          <p:cNvPr id="8" name="Shape 6"/>
          <p:cNvSpPr/>
          <p:nvPr/>
        </p:nvSpPr>
        <p:spPr>
          <a:xfrm>
            <a:off x="7909560" y="19202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F8000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0956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ile SQL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09560" y="31089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soru, movies_clean.csv üzerinde doğrudan SQL sorgularıyla (GROUP BY, CASE WHEN, HAVING, CORR gibi) cevaplandı — Python içinde, RAM'e ağır yük bindirmeden.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9560" y="4434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DuckDB: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09560" y="47548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Hocanın 'SQL' şartını güçlü karşılıyor, gerçek veritabanı kurmadan CSV üzerinde SQL çalıştırmayı sağlıyor.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 1 /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 İçindeki Eğilim: 3 Dönem, 1 Şaşırtıcı Sabitlik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Sinema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1900–1920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~3.15–3.20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sayıda film (68/yıl'dan başlıyor), deneysel/öncü yapımlar.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4181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Çağ Platosu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1920–1990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53712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~3.30–3.40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53712" y="32004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puan bu dönemde ZİRVEYE çıkıyor — klasik/kült statüsü kazanan filmler.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0184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Patlama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0184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0184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~3.15–3.21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30184" y="32004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sayısı katlanarak artıyor (2022'de 4.158 film) ama ortalama puan geriliyor.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BEFD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1772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kalitesi notu:  </a:t>
            </a:r>
            <a:r>
              <a:rPr lang="en-US" sz="125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sırasında 1874 tarihli bir kaydın ("Passage of Venus") gerçek olduğu araştırılarak doğrulandı — sinema tarihinin en erken kayıtlarından. 2024 verisi ise eksik (yıl tamamlanmadan toplanmış), bu yüzden düşen film sayısı gerçek bir düşüş değil.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 2 /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 Bazlı Puan Analizi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722376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4F9E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Documentary — 3.51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0" y="2468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Niş ve seçici izleyici kitlesi çeken belgeseller, kitlesel türlerden belirgin şekilde daha yüksek puan alıyor.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41148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BE9E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DÜŞÜK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Horror — 2.90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0" y="49834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Kitlesel/seri üretimin yoğunlaştığı türler (Horror, Action, Sci-Fi), ortalamada daha düşük puanlanıyor.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 3 /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Film Süresi ve Puan: 'U Şeklinde' Bir İlişki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6675120" cy="685800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7150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katsayısı:  </a:t>
            </a:r>
            <a:r>
              <a:rPr lang="en-US" sz="125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0.047 — pratik olarak sıfır! (ama grafik güçlü bir örüntü gösteriyor)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1691640"/>
            <a:ext cx="4114800" cy="4709160"/>
          </a:xfrm>
          <a:prstGeom prst="roundRect">
            <a:avLst>
              <a:gd name="adj" fmla="val 1778"/>
            </a:avLst>
          </a:prstGeom>
          <a:solidFill>
            <a:srgbClr val="14181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Metodolojik Ders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0" y="23774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katsayısı sadece DOĞRUSAL ilişkiyi ölçer. Bizim verimiz U-şeklinde (önce düşüyor, sonra yükseliyor) — bu yüzden korelasyon yanıltıcı biçimde "ilişki yok" gösteriyor, oysa gerçek bir örüntü var.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0" y="4297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Çok kısa (niş/deneysel) ve çok uzun (prestij yapım) filmler yüksek puan alırken, standart 60–120 dk aralığı (kitlesel üretim) en düşük puanı alıyor.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5806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Bu, Linear Regression'ın neden zayıf kalacağının ilk kanıtıydı.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 4 /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Çapraz Doğrulama: Yönetmen, Ülke, Stüdyo, Dağıtım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56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Yönetmen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Satoshi Kon 4.16, Tarkovsky 4.08 (en az 5 film)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üretken 15 yönetmen (Chuck Jones 216 film) ile en yüksek puanlı 15 yönetmen arasında SIFIR örtüşme.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856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Ülke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221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USSR (527 film) → 3.63 ortalama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6517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Sovyet dönemi 'sanat sineması' geleneği — Tarkovsky bulgusuyla tutarlı. Japan (5.059 film) daha düşük: 3.44.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0050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Stüdyo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BBC Natural History Unit → 3.98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K-pop prodüksiyon şirketleri (Music türünü) ve doğa belgeseli stüdyoları (Documentary türünü) doğruluyor.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0050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Tipi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370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Premiere +0.13  ·  Digital −0.15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800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gösterimi (niş) puanı yükseltiyor; doğrudan dijital çıkış (düşük bütçe işareti) düşürüyor.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F262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0E05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 SONUÇ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Bir Tema, 4 Bağımsız Analizle Doğrulandı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1920240"/>
            <a:ext cx="9601200" cy="1920240"/>
          </a:xfrm>
          <a:prstGeom prst="roundRect">
            <a:avLst>
              <a:gd name="adj" fmla="val 4762"/>
            </a:avLst>
          </a:prstGeom>
          <a:solidFill>
            <a:srgbClr val="1F262D"/>
          </a:solidFill>
          <a:ln w="19050">
            <a:solidFill>
              <a:srgbClr val="00E0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4884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"Niş, sınırlı ve seçici üretim — rating'i yukarı çeker.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Kitlesel, yaygın ve seri üretim — rating'i aşağı çeker."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22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370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800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↑ · Horror ↓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22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4370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4800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kısa/uzun ↑ · Standart ↓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22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370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Yönetmen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4800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üretken ↑ · Çok üretken ↓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2229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4370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35440" y="4800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↑ · Doğrudan dijital ↓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 · ADIM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Hazırlık: Özellik Mühendisliği ve Encoding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Kararları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074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studio_main: ÇIKARILDI — binlerce farklı değer, one-hot yapılırsa RAM patlar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genre_main (19 değer): tamamı one-hot encode edildi — az kategori, sorun yok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country_main, language_main: Top-15 + "Other" gruplaması (177→16, 139→16)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had_* dağıtım sütunları: zaten True/False, direkt kullanılabilir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drop_first=True: çoklu doğrusal bağlantıyı (multicollinearity) önlemek için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14181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Boyutu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→ 64 sütun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46520" y="2788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sonrası özellik (X) matrisi 64 sütuna ulaştı — 90.999 satır × 64 sütun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97764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Ayrımı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4617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45"/>
                </a:solidFill>
              </a:rPr>
              <a:t>%80 Eğitim</a:t>
            </a:r>
            <a:r>
              <a:rPr lang="en-US" sz="1300" dirty="0">
                <a:solidFill>
                  <a:srgbClr val="5C6770"/>
                </a:solidFill>
              </a:rPr>
              <a:t>  (72.799 film)   ·   </a:t>
            </a:r>
            <a:r>
              <a:rPr lang="en-US" sz="1600" b="1" dirty="0">
                <a:solidFill>
                  <a:srgbClr val="CC6600"/>
                </a:solidFill>
              </a:rPr>
              <a:t>%20 Test</a:t>
            </a:r>
            <a:r>
              <a:rPr lang="en-US" sz="1300" dirty="0">
                <a:solidFill>
                  <a:srgbClr val="5C6770"/>
                </a:solidFill>
              </a:rPr>
              <a:t>  (18.200 film)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ile tekrarlanabilir, tutarlı bir bölünme sağlandı. Model, TEST setindeki filmleri hiç görmeden tahmin yapıyor.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 · ADIM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Model, Tek Kazanan: Random Forest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691640"/>
          <a:ext cx="580644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Gerekçe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— doğrusal ilişkiler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olmayan kuralları öğrenir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B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B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ağacın ortalaması — en kararlı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06440" y="4343400"/>
            <a:ext cx="5806440" cy="1920240"/>
          </a:xfrm>
          <a:prstGeom prst="roundRect">
            <a:avLst>
              <a:gd name="adj" fmla="val 3810"/>
            </a:avLst>
          </a:prstGeom>
          <a:solidFill>
            <a:srgbClr val="14181C"/>
          </a:solidFill>
          <a:ln/>
        </p:spPr>
      </p:sp>
      <p:sp>
        <p:nvSpPr>
          <p:cNvPr id="7" name="Text 3"/>
          <p:cNvSpPr/>
          <p:nvPr/>
        </p:nvSpPr>
        <p:spPr>
          <a:xfrm>
            <a:off x="6080760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Random Forest Kazandı?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080760" y="493776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EDA'da bulduğumuz U-şekilli (süre) ve karmaşık örüntüler (tür/yönetmen etkileşimleri) DOĞRUSAL DEĞİL. Linear Regression bunları göremiyor; 100 ağacın ortalamasını alan Random Forest ise hem bu örüntüleri yakalıyor hem de tek bir ağacın aşırı uydurmasını (overfitting) yumuşatıyor.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R²=0.43 mükemmel değil — bu beklenen bir sonuç, bir sonraki slaytta ele alınıyor.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Genel Bakış Sayfası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9095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25400">
            <a:solidFill>
              <a:srgbClr val="2C3440"/>
            </a:solidFill>
            <a:prstDash val="solid"/>
          </a:ln>
        </p:spPr>
      </p:sp>
      <p:pic>
        <p:nvPicPr>
          <p:cNvPr id="5" name="Image 0" descr="genel_bakis_sayf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30286"/>
            <a:ext cx="7635240" cy="42489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600200"/>
            <a:ext cx="2971800" cy="4709160"/>
          </a:xfrm>
          <a:prstGeom prst="roundRect">
            <a:avLst>
              <a:gd name="adj" fmla="val 2462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İçeriği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869680" y="224028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kartı: toplam film sayısı, ortalama puan, en iyi model R², en yüksek puanlı yönetmen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ölçütüne göre ortalama puan — 19 türün sıralı çubuk grafiği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modelin R² / RMSE / MAE karşılaştırma tablosu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5 film çekmiş, en yüksek puanlı 15 yönetmen (yatay çubuk grafik)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0" y="5806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Dashboard artık 4 sayfa — Genel Bakış, Tür, Süre &amp; Model, Ülke &amp; Zaman (sonraki slaytlarda).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Tür Analizi Sayfası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9095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25400">
            <a:solidFill>
              <a:srgbClr val="2C3440"/>
            </a:solidFill>
            <a:prstDash val="solid"/>
          </a:ln>
        </p:spPr>
      </p:sp>
      <p:pic>
        <p:nvPicPr>
          <p:cNvPr id="5" name="Image 0" descr="tur_analizi_sayf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5714"/>
            <a:ext cx="7635240" cy="42781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600200"/>
            <a:ext cx="2971800" cy="4709160"/>
          </a:xfrm>
          <a:prstGeom prst="roundRect">
            <a:avLst>
              <a:gd name="adj" fmla="val 2462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İçeriği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869680" y="224028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puanlı tür: Documentary (3,51) · En düşük: Horror (2,90)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film olan tür: Drama (22.474 film) · Toplam 19 tür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ölçütüne göre toplam film sayısı — popülerlik sıralı çubuk grafik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 ile film sayısı ters ilişkili: niş türler yüksek puan, kitlesel türler düşük puan alıyor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0" y="5806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genre_analiz özet tablosu (SQL ile Faz 3'te üretildi).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Süre &amp; Model Analizi Sayfası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9095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25400">
            <a:solidFill>
              <a:srgbClr val="2C3440"/>
            </a:solidFill>
            <a:prstDash val="solid"/>
          </a:ln>
        </p:spPr>
      </p:sp>
      <p:pic>
        <p:nvPicPr>
          <p:cNvPr id="5" name="Image 0" descr="sure_model_analizi_sayf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41646"/>
            <a:ext cx="7635240" cy="42262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600200"/>
            <a:ext cx="2971800" cy="4709160"/>
          </a:xfrm>
          <a:prstGeom prst="roundRect">
            <a:avLst>
              <a:gd name="adj" fmla="val 2462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İçeriği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869680" y="224028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 kategorisine göre ortalama puan: U-şekilli ilişki net görünüyor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(3,38) ve Çok Uzun (3,50) filmler yüksek puan; Standart-Kısa (3,14) en düşük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modelin R² karşılaştırması: Random Forest (0,43) &gt; Decision Tree (0,38) &gt; Linear Regression (0,28)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“Neden R²?” notu: MAE/RMSE yerine R²'nin ana metrik seçilme gerekçesi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0" y="5806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sure_analiz ve model_karsilastirma özet tabloları.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Ülke &amp; Zaman Analizi Sayfası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9095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25400">
            <a:solidFill>
              <a:srgbClr val="2C3440"/>
            </a:solidFill>
            <a:prstDash val="solid"/>
          </a:ln>
        </p:spPr>
      </p:sp>
      <p:pic>
        <p:nvPicPr>
          <p:cNvPr id="5" name="Image 0" descr="ulke_zaman_analizi_sayf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9962"/>
            <a:ext cx="7635240" cy="42696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41080" y="1600200"/>
            <a:ext cx="2971800" cy="4709160"/>
          </a:xfrm>
          <a:prstGeom prst="roundRect">
            <a:avLst>
              <a:gd name="adj" fmla="val 2462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İçeriği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869680" y="224028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Yıllara göre film sayısı ve ortalama puan — 1900–2024, çift eksenli, interaktif Yıl filtresi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2022'de zirve: 4.158 film (tek yılda en çok üretim)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Ülke bazlı ortalama puan (en az 50 film şartıyla): USSR, Czechoslovakia, Yugoslavia en yüksek (3,6)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100" dirty="0">
                <a:solidFill>
                  <a:srgbClr val="D8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“Neden en az 50 film?” notu: az film çeken ülkelerin ortalamayı çarpıtmasını önlüyor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0" y="5806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yillik_trend ve ulke_analiz özet tabloları.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DEĞERLENDİRME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Sınırlılıklar ve Gelecek Çalışmalar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Sınırlılıklar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R²=0.43 — rating'in yaklaşık yarısı ölçemediğimiz faktörlere (senaryo kalitesi, oyunculuk, duygusal bağ) bağlı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studio_main gibi yüksek kardiniteli sütunlar tamamen dışlandı — bilgi kaybı var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tagline, description gibi serbest metin sütunları hiç kullanılmadı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rating'i olan 90.999 film (%9.7) modele dahil edildi — geri kalan %90.3 için genelleme sınırlı olabilir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E5E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Çalışmalar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encoding: yönetmen/stüdyo için 'geçmiş ortalama rating' özelliği (data leakage'a dikkat ederek)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tagline/description üzerinden duygu analizi veya anahtar kelime çıkarımı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Hiperparametre optimizasyonu (GridSearch) ile Random Forest'ı daha da iyileştirme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D4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gibi gradient boosting modelleriyle karşılaştırma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657600" cy="3657600"/>
          </a:xfrm>
          <a:prstGeom prst="ellipse">
            <a:avLst/>
          </a:prstGeom>
          <a:solidFill>
            <a:srgbClr val="1F262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108960" cy="3108960"/>
          </a:xfrm>
          <a:prstGeom prst="ellipse">
            <a:avLst/>
          </a:prstGeom>
          <a:solidFill>
            <a:srgbClr val="00E05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E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ANALİSTİ BİTİRME PROJESİ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C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Sorularınızı bekliyorum.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F262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9→1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 Birleştirme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42062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F262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Analiz Sorusu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42062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F262D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42062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F262D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0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6112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R² Skoru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Film Puanı Tahmini — Bitirme Projesi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21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2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Şamil Tokat</cp:lastModifiedBy>
  <cp:revision>5</cp:revision>
  <dcterms:created xsi:type="dcterms:W3CDTF">2026-07-28T14:19:19Z</dcterms:created>
  <dcterms:modified xsi:type="dcterms:W3CDTF">2026-08-01T21:30:37Z</dcterms:modified>
</cp:coreProperties>
</file>